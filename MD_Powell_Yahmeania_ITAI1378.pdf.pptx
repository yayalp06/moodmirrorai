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p:restoredTop sz="94659"/>
  </p:normalViewPr>
  <p:slideViewPr>
    <p:cSldViewPr snapToGrid="0" snapToObjects="1">
      <p:cViewPr varScale="1">
        <p:scale>
          <a:sx n="105" d="100"/>
          <a:sy n="105" d="100"/>
        </p:scale>
        <p:origin x="208" y="3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286000"/>
            <a:ext cx="10972800" cy="1828800"/>
          </a:xfrm>
          <a:prstGeom prst="rect">
            <a:avLst/>
          </a:prstGeom>
          <a:noFill/>
        </p:spPr>
        <p:txBody>
          <a:bodyPr wrap="none">
            <a:spAutoFit/>
          </a:bodyPr>
          <a:lstStyle/>
          <a:p>
            <a:pPr algn="ctr">
              <a:defRPr sz="4400" b="1">
                <a:solidFill>
                  <a:srgbClr val="283593"/>
                </a:solidFill>
                <a:latin typeface="Montserrat"/>
              </a:defRPr>
            </a:pPr>
            <a:r>
              <a:t>MoodMirror AI</a:t>
            </a:r>
          </a:p>
          <a:p>
            <a:pPr algn="ctr">
              <a:defRPr sz="4400" b="1">
                <a:solidFill>
                  <a:srgbClr val="283593"/>
                </a:solidFill>
                <a:latin typeface="Montserrat"/>
              </a:defRPr>
            </a:pPr>
            <a:r>
              <a:t>Smart Mirror for Mood &amp; Motivation</a:t>
            </a:r>
          </a:p>
        </p:txBody>
      </p:sp>
      <p:sp>
        <p:nvSpPr>
          <p:cNvPr id="3" name="TextBox 2"/>
          <p:cNvSpPr txBox="1"/>
          <p:nvPr/>
        </p:nvSpPr>
        <p:spPr>
          <a:xfrm>
            <a:off x="4052240" y="4572000"/>
            <a:ext cx="4697119" cy="830997"/>
          </a:xfrm>
          <a:prstGeom prst="rect">
            <a:avLst/>
          </a:prstGeom>
          <a:noFill/>
        </p:spPr>
        <p:txBody>
          <a:bodyPr wrap="none">
            <a:spAutoFit/>
          </a:bodyPr>
          <a:lstStyle/>
          <a:p>
            <a:pPr algn="ctr">
              <a:defRPr sz="2400">
                <a:solidFill>
                  <a:srgbClr val="424242"/>
                </a:solidFill>
                <a:latin typeface="Open Sans"/>
              </a:defRPr>
            </a:pPr>
            <a:r>
              <a:rPr dirty="0"/>
              <a:t>Y. Powell </a:t>
            </a:r>
            <a:r>
              <a:rPr lang="en-US" dirty="0"/>
              <a:t> &amp;  O, </a:t>
            </a:r>
            <a:r>
              <a:rPr lang="en-US" dirty="0" err="1"/>
              <a:t>Ogedengbe</a:t>
            </a:r>
            <a:endParaRPr lang="en-US" dirty="0"/>
          </a:p>
          <a:p>
            <a:pPr algn="ctr">
              <a:defRPr sz="2400">
                <a:solidFill>
                  <a:srgbClr val="424242"/>
                </a:solidFill>
                <a:latin typeface="Open Sans"/>
              </a:defRPr>
            </a:pPr>
            <a:r>
              <a:rPr dirty="0"/>
              <a:t>ITAI 1378 Final Project Proposal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The Problem → The Solution</a:t>
            </a:r>
          </a:p>
        </p:txBody>
      </p:sp>
      <p:sp>
        <p:nvSpPr>
          <p:cNvPr id="3" name="TextBox 2"/>
          <p:cNvSpPr txBox="1"/>
          <p:nvPr/>
        </p:nvSpPr>
        <p:spPr>
          <a:xfrm>
            <a:off x="1097280" y="1828800"/>
            <a:ext cx="10515600" cy="3477875"/>
          </a:xfrm>
          <a:prstGeom prst="rect">
            <a:avLst/>
          </a:prstGeom>
          <a:noFill/>
        </p:spPr>
        <p:txBody>
          <a:bodyPr wrap="square">
            <a:spAutoFit/>
          </a:bodyPr>
          <a:lstStyle/>
          <a:p>
            <a:pPr>
              <a:defRPr sz="2000">
                <a:solidFill>
                  <a:srgbClr val="424242"/>
                </a:solidFill>
                <a:latin typeface="Open Sans"/>
              </a:defRPr>
            </a:pPr>
            <a:r>
              <a:rPr lang="en-US" dirty="0"/>
              <a:t>💡 The Vision: “Technology that reflects how you feel.”</a:t>
            </a:r>
          </a:p>
          <a:p>
            <a:pPr>
              <a:defRPr sz="2000">
                <a:solidFill>
                  <a:srgbClr val="424242"/>
                </a:solidFill>
                <a:latin typeface="Open Sans"/>
              </a:defRPr>
            </a:pPr>
            <a:endParaRPr lang="en-US" dirty="0"/>
          </a:p>
          <a:p>
            <a:pPr>
              <a:defRPr sz="2000">
                <a:solidFill>
                  <a:srgbClr val="424242"/>
                </a:solidFill>
                <a:latin typeface="Open Sans"/>
              </a:defRPr>
            </a:pPr>
            <a:r>
              <a:rPr dirty="0"/>
              <a:t>Problem: Mornings can be stressful and uninspiring. Mirrors show appearance, not emotion.</a:t>
            </a:r>
            <a:br>
              <a:rPr dirty="0"/>
            </a:br>
            <a:br>
              <a:rPr dirty="0"/>
            </a:br>
            <a:r>
              <a:rPr dirty="0"/>
              <a:t>Solution: </a:t>
            </a:r>
            <a:r>
              <a:rPr dirty="0" err="1"/>
              <a:t>MoodMirrorAI</a:t>
            </a:r>
            <a:r>
              <a:rPr dirty="0"/>
              <a:t> recognizes your mood </a:t>
            </a:r>
            <a:r>
              <a:rPr lang="en-US" dirty="0"/>
              <a:t>using facial recognition </a:t>
            </a:r>
            <a:r>
              <a:rPr dirty="0"/>
              <a:t>and responds with affirmations </a:t>
            </a:r>
            <a:r>
              <a:rPr lang="en-US" dirty="0"/>
              <a:t>and/</a:t>
            </a:r>
            <a:r>
              <a:rPr dirty="0"/>
              <a:t>or music to uplift </a:t>
            </a:r>
            <a:r>
              <a:rPr lang="en-US" dirty="0"/>
              <a:t>you</a:t>
            </a:r>
            <a:r>
              <a:rPr dirty="0"/>
              <a:t>.</a:t>
            </a:r>
            <a:r>
              <a:rPr lang="en-US" dirty="0"/>
              <a:t> </a:t>
            </a:r>
          </a:p>
          <a:p>
            <a:pPr>
              <a:defRPr sz="2000">
                <a:solidFill>
                  <a:srgbClr val="424242"/>
                </a:solidFill>
                <a:latin typeface="Open Sans"/>
              </a:defRPr>
            </a:pPr>
            <a:endParaRPr lang="en-US" dirty="0"/>
          </a:p>
          <a:p>
            <a:pPr>
              <a:defRPr sz="2000">
                <a:solidFill>
                  <a:srgbClr val="424242"/>
                </a:solidFill>
                <a:latin typeface="Open Sans"/>
              </a:defRPr>
            </a:pPr>
            <a:r>
              <a:rPr lang="en-US" dirty="0"/>
              <a:t>Why is it Important: This cutting edge technology is designed to use AI to help people with their mental health, while combining it with the beauty and music industry. Because when people feel beautiful it makes life better, and music is a form of therapy.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How It Works + Technical Approach</a:t>
            </a:r>
          </a:p>
        </p:txBody>
      </p:sp>
      <p:sp>
        <p:nvSpPr>
          <p:cNvPr id="3" name="TextBox 2"/>
          <p:cNvSpPr txBox="1"/>
          <p:nvPr/>
        </p:nvSpPr>
        <p:spPr>
          <a:xfrm>
            <a:off x="1097280" y="1828800"/>
            <a:ext cx="10515600" cy="3139321"/>
          </a:xfrm>
          <a:prstGeom prst="rect">
            <a:avLst/>
          </a:prstGeom>
          <a:noFill/>
        </p:spPr>
        <p:txBody>
          <a:bodyPr wrap="square">
            <a:spAutoFit/>
          </a:bodyPr>
          <a:lstStyle/>
          <a:p>
            <a:endParaRPr dirty="0"/>
          </a:p>
          <a:p>
            <a:pPr>
              <a:defRPr sz="2000">
                <a:solidFill>
                  <a:srgbClr val="424242"/>
                </a:solidFill>
                <a:latin typeface="Open Sans"/>
              </a:defRPr>
            </a:pPr>
            <a:r>
              <a:rPr dirty="0"/>
              <a:t>• YOLOv8 detects faces from camera feed</a:t>
            </a:r>
            <a:br>
              <a:rPr dirty="0"/>
            </a:br>
            <a:r>
              <a:rPr dirty="0"/>
              <a:t>• FER2013 CNN classifies emotions</a:t>
            </a:r>
            <a:br>
              <a:rPr dirty="0"/>
            </a:br>
            <a:r>
              <a:rPr dirty="0"/>
              <a:t>• Spotify API (optional) plays mood-based music</a:t>
            </a:r>
            <a:br>
              <a:rPr dirty="0"/>
            </a:br>
            <a:r>
              <a:rPr dirty="0"/>
              <a:t>• </a:t>
            </a:r>
            <a:r>
              <a:rPr dirty="0" err="1"/>
              <a:t>Streamlit</a:t>
            </a:r>
            <a:r>
              <a:rPr dirty="0"/>
              <a:t>/</a:t>
            </a:r>
            <a:r>
              <a:rPr dirty="0" err="1"/>
              <a:t>Gradio</a:t>
            </a:r>
            <a:r>
              <a:rPr dirty="0"/>
              <a:t> for mirror-style display</a:t>
            </a:r>
            <a:endParaRPr lang="en-US" dirty="0"/>
          </a:p>
          <a:p>
            <a:pPr>
              <a:defRPr sz="2000">
                <a:solidFill>
                  <a:srgbClr val="424242"/>
                </a:solidFill>
                <a:latin typeface="Open Sans"/>
              </a:defRPr>
            </a:pPr>
            <a:endParaRPr lang="en-US" sz="2000" dirty="0"/>
          </a:p>
          <a:p>
            <a:pPr>
              <a:defRPr sz="2000">
                <a:solidFill>
                  <a:srgbClr val="424242"/>
                </a:solidFill>
                <a:latin typeface="Open Sans"/>
              </a:defRPr>
            </a:pPr>
            <a:r>
              <a:rPr lang="en-US" sz="2000" dirty="0"/>
              <a:t>We chose this approach because it combines fast, accurate object detection (YOLOv8) with a proven emotion recognition model (FER2013 CNN) in a lightweight </a:t>
            </a:r>
            <a:r>
              <a:rPr lang="en-US" sz="2000" dirty="0" err="1"/>
              <a:t>PyTorch</a:t>
            </a:r>
            <a:r>
              <a:rPr lang="en-US" sz="2000" dirty="0"/>
              <a:t> framework which is perfect for real time responsiveness and easy deployment.</a:t>
            </a:r>
          </a:p>
          <a:p>
            <a:pPr>
              <a:defRPr sz="2000">
                <a:solidFill>
                  <a:srgbClr val="424242"/>
                </a:solidFill>
                <a:latin typeface="Open Sans"/>
              </a:defRP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Requirements + Dataset Info</a:t>
            </a:r>
          </a:p>
        </p:txBody>
      </p:sp>
      <p:sp>
        <p:nvSpPr>
          <p:cNvPr id="3" name="TextBox 2"/>
          <p:cNvSpPr txBox="1"/>
          <p:nvPr/>
        </p:nvSpPr>
        <p:spPr>
          <a:xfrm>
            <a:off x="1097280" y="1828800"/>
            <a:ext cx="10515600" cy="4114800"/>
          </a:xfrm>
          <a:prstGeom prst="rect">
            <a:avLst/>
          </a:prstGeom>
          <a:noFill/>
        </p:spPr>
        <p:txBody>
          <a:bodyPr wrap="square">
            <a:spAutoFit/>
          </a:bodyPr>
          <a:lstStyle/>
          <a:p>
            <a:endParaRPr/>
          </a:p>
          <a:p>
            <a:pPr>
              <a:defRPr sz="2000">
                <a:solidFill>
                  <a:srgbClr val="424242"/>
                </a:solidFill>
                <a:latin typeface="Open Sans"/>
              </a:defRPr>
            </a:pPr>
            <a:r>
              <a:t>Requirements:</a:t>
            </a:r>
            <a:br/>
            <a:r>
              <a:t>• torch, torchvision, ultralytics, opencv-python</a:t>
            </a:r>
            <a:br/>
            <a:r>
              <a:t>• numpy, pandas, matplotlib, gradio, streamlit</a:t>
            </a:r>
            <a:br/>
            <a:br/>
            <a:r>
              <a:t>Dataset: FER2013 (~35,000 images)</a:t>
            </a:r>
            <a:br/>
            <a:r>
              <a:t>• Classes: Angry, Disgust, Fear, Happy, Sad, Surprise, Neutral</a:t>
            </a:r>
            <a:br/>
            <a:r>
              <a:t>• Source: Kaggle / Roboflow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Metrics &amp; Results</a:t>
            </a:r>
          </a:p>
        </p:txBody>
      </p:sp>
      <p:sp>
        <p:nvSpPr>
          <p:cNvPr id="3" name="TextBox 2"/>
          <p:cNvSpPr txBox="1"/>
          <p:nvPr/>
        </p:nvSpPr>
        <p:spPr>
          <a:xfrm>
            <a:off x="1097280" y="1828800"/>
            <a:ext cx="10515600" cy="4114800"/>
          </a:xfrm>
          <a:prstGeom prst="rect">
            <a:avLst/>
          </a:prstGeom>
          <a:noFill/>
        </p:spPr>
        <p:txBody>
          <a:bodyPr wrap="square">
            <a:spAutoFit/>
          </a:bodyPr>
          <a:lstStyle/>
          <a:p>
            <a:endParaRPr/>
          </a:p>
          <a:p>
            <a:pPr>
              <a:defRPr sz="2000">
                <a:solidFill>
                  <a:srgbClr val="424242"/>
                </a:solidFill>
                <a:latin typeface="Open Sans"/>
              </a:defRPr>
            </a:pPr>
            <a:r>
              <a:t>• Accuracy ≥ 90%</a:t>
            </a:r>
            <a:br/>
            <a:r>
              <a:t>• Latency &lt; 1 second</a:t>
            </a:r>
            <a:br/>
            <a:r>
              <a:t>• User Rating ≥ 4/5</a:t>
            </a:r>
            <a:br/>
            <a:br/>
            <a:r>
              <a:t>Target: fast, reliable, emotionally intelligent responses.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Timeline</a:t>
            </a:r>
          </a:p>
        </p:txBody>
      </p:sp>
      <p:sp>
        <p:nvSpPr>
          <p:cNvPr id="3" name="TextBox 2"/>
          <p:cNvSpPr txBox="1"/>
          <p:nvPr/>
        </p:nvSpPr>
        <p:spPr>
          <a:xfrm>
            <a:off x="1097280" y="1828800"/>
            <a:ext cx="10515600" cy="2215991"/>
          </a:xfrm>
          <a:prstGeom prst="rect">
            <a:avLst/>
          </a:prstGeom>
          <a:noFill/>
        </p:spPr>
        <p:txBody>
          <a:bodyPr wrap="square">
            <a:spAutoFit/>
          </a:bodyPr>
          <a:lstStyle/>
          <a:p>
            <a:endParaRPr dirty="0"/>
          </a:p>
          <a:p>
            <a:pPr>
              <a:defRPr sz="2000">
                <a:solidFill>
                  <a:srgbClr val="424242"/>
                </a:solidFill>
                <a:latin typeface="Open Sans"/>
              </a:defRPr>
            </a:pPr>
            <a:r>
              <a:rPr dirty="0"/>
              <a:t>Week 10 – Gather dataset &amp; set up environment</a:t>
            </a:r>
            <a:br>
              <a:rPr dirty="0"/>
            </a:br>
            <a:r>
              <a:rPr dirty="0"/>
              <a:t>Week 11 – Train or fine-tune model</a:t>
            </a:r>
            <a:br>
              <a:rPr dirty="0"/>
            </a:br>
            <a:r>
              <a:rPr dirty="0"/>
              <a:t>Week 12 – Connect webcam &amp; emotion detection</a:t>
            </a:r>
            <a:br>
              <a:rPr dirty="0"/>
            </a:br>
            <a:r>
              <a:rPr dirty="0"/>
              <a:t>Week 13 – Add affirmations/music</a:t>
            </a:r>
            <a:br>
              <a:rPr dirty="0"/>
            </a:br>
            <a:r>
              <a:rPr dirty="0"/>
              <a:t>Week 14 – Test &amp; document</a:t>
            </a:r>
            <a:br>
              <a:rPr dirty="0"/>
            </a:br>
            <a:r>
              <a:rPr dirty="0"/>
              <a:t>Week 15 – Present project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Challenges &amp; Backup Plans</a:t>
            </a:r>
          </a:p>
        </p:txBody>
      </p:sp>
      <p:sp>
        <p:nvSpPr>
          <p:cNvPr id="3" name="TextBox 2"/>
          <p:cNvSpPr txBox="1"/>
          <p:nvPr/>
        </p:nvSpPr>
        <p:spPr>
          <a:xfrm>
            <a:off x="1097280" y="1828800"/>
            <a:ext cx="10515600" cy="4114800"/>
          </a:xfrm>
          <a:prstGeom prst="rect">
            <a:avLst/>
          </a:prstGeom>
          <a:noFill/>
        </p:spPr>
        <p:txBody>
          <a:bodyPr wrap="square">
            <a:spAutoFit/>
          </a:bodyPr>
          <a:lstStyle/>
          <a:p>
            <a:endParaRPr/>
          </a:p>
          <a:p>
            <a:pPr>
              <a:defRPr sz="2000">
                <a:solidFill>
                  <a:srgbClr val="424242"/>
                </a:solidFill>
                <a:latin typeface="Open Sans"/>
              </a:defRPr>
            </a:pPr>
            <a:r>
              <a:t>• Low accuracy → Use pretrained model or augment data</a:t>
            </a:r>
            <a:br/>
            <a:r>
              <a:t>• Lag → Lower image resolution</a:t>
            </a:r>
            <a:br/>
            <a:r>
              <a:t>• API limits → Offline playlists</a:t>
            </a:r>
            <a:br/>
            <a:r>
              <a:t>• Mirror unavailable → Simulate on laptop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640080"/>
            <a:ext cx="10058400" cy="914400"/>
          </a:xfrm>
          <a:prstGeom prst="rect">
            <a:avLst/>
          </a:prstGeom>
          <a:noFill/>
        </p:spPr>
        <p:txBody>
          <a:bodyPr wrap="none">
            <a:spAutoFit/>
          </a:bodyPr>
          <a:lstStyle/>
          <a:p>
            <a:pPr>
              <a:defRPr sz="3600" b="1">
                <a:solidFill>
                  <a:srgbClr val="283593"/>
                </a:solidFill>
                <a:latin typeface="Montserrat"/>
              </a:defRPr>
            </a:pPr>
            <a:r>
              <a:t>💻 Resources Needed</a:t>
            </a:r>
          </a:p>
        </p:txBody>
      </p:sp>
      <p:sp>
        <p:nvSpPr>
          <p:cNvPr id="3" name="TextBox 2"/>
          <p:cNvSpPr txBox="1"/>
          <p:nvPr/>
        </p:nvSpPr>
        <p:spPr>
          <a:xfrm>
            <a:off x="1097280" y="1828800"/>
            <a:ext cx="10515600" cy="1600438"/>
          </a:xfrm>
          <a:prstGeom prst="rect">
            <a:avLst/>
          </a:prstGeom>
          <a:noFill/>
        </p:spPr>
        <p:txBody>
          <a:bodyPr wrap="square">
            <a:spAutoFit/>
          </a:bodyPr>
          <a:lstStyle/>
          <a:p>
            <a:endParaRPr dirty="0"/>
          </a:p>
          <a:p>
            <a:pPr>
              <a:defRPr sz="2000">
                <a:solidFill>
                  <a:srgbClr val="424242"/>
                </a:solidFill>
                <a:latin typeface="Open Sans"/>
              </a:defRPr>
            </a:pPr>
            <a:r>
              <a:rPr dirty="0"/>
              <a:t>• Compute: Google Colab GPU or Kaggle</a:t>
            </a:r>
            <a:br>
              <a:rPr dirty="0"/>
            </a:br>
            <a:r>
              <a:rPr dirty="0"/>
              <a:t>• Frameworks: </a:t>
            </a:r>
            <a:r>
              <a:rPr dirty="0" err="1"/>
              <a:t>PyTorch</a:t>
            </a:r>
            <a:r>
              <a:rPr dirty="0"/>
              <a:t>, OpenCV, </a:t>
            </a:r>
            <a:r>
              <a:rPr dirty="0" err="1"/>
              <a:t>Ultralytics</a:t>
            </a:r>
            <a:r>
              <a:rPr dirty="0"/>
              <a:t>, Hugging Face</a:t>
            </a:r>
            <a:br>
              <a:rPr dirty="0"/>
            </a:br>
            <a:r>
              <a:rPr dirty="0"/>
              <a:t>• Interface: </a:t>
            </a:r>
            <a:r>
              <a:rPr dirty="0" err="1"/>
              <a:t>Gradio</a:t>
            </a:r>
            <a:r>
              <a:rPr dirty="0"/>
              <a:t> or </a:t>
            </a:r>
            <a:r>
              <a:rPr dirty="0" err="1"/>
              <a:t>Streamlit</a:t>
            </a:r>
            <a:br>
              <a:rPr dirty="0"/>
            </a:br>
            <a:r>
              <a:rPr lang="en-US" dirty="0"/>
              <a:t>• Cost: ”SHARKS INSERT YOUR OFFERS HERE NOW </a:t>
            </a:r>
            <a:r>
              <a:rPr lang="en-US" dirty="0">
                <a:sym typeface="Wingdings" pitchFamily="2" charset="2"/>
              </a:rPr>
              <a: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500" y="3429000"/>
            <a:ext cx="3690257" cy="646331"/>
          </a:xfrm>
          <a:prstGeom prst="rect">
            <a:avLst/>
          </a:prstGeom>
          <a:noFill/>
        </p:spPr>
        <p:txBody>
          <a:bodyPr wrap="square">
            <a:spAutoFit/>
          </a:bodyPr>
          <a:lstStyle/>
          <a:p>
            <a:pPr>
              <a:defRPr sz="3600" b="1">
                <a:solidFill>
                  <a:srgbClr val="283593"/>
                </a:solidFill>
                <a:latin typeface="Montserrat"/>
              </a:defRPr>
            </a:pPr>
            <a:r>
              <a:rPr dirty="0"/>
              <a:t>🙏 Thank You</a:t>
            </a:r>
          </a:p>
        </p:txBody>
      </p:sp>
      <p:sp>
        <p:nvSpPr>
          <p:cNvPr id="3" name="TextBox 2"/>
          <p:cNvSpPr txBox="1"/>
          <p:nvPr/>
        </p:nvSpPr>
        <p:spPr>
          <a:xfrm>
            <a:off x="2583180" y="1554480"/>
            <a:ext cx="10515600" cy="1723549"/>
          </a:xfrm>
          <a:prstGeom prst="rect">
            <a:avLst/>
          </a:prstGeom>
          <a:noFill/>
        </p:spPr>
        <p:txBody>
          <a:bodyPr wrap="square">
            <a:spAutoFit/>
          </a:bodyPr>
          <a:lstStyle/>
          <a:p>
            <a:endParaRPr dirty="0"/>
          </a:p>
          <a:p>
            <a:pPr>
              <a:defRPr sz="2000">
                <a:solidFill>
                  <a:srgbClr val="424242"/>
                </a:solidFill>
                <a:latin typeface="Open Sans"/>
              </a:defRPr>
            </a:pPr>
            <a:r>
              <a:rPr lang="en-US" sz="4400" dirty="0"/>
              <a:t>"</a:t>
            </a:r>
            <a:r>
              <a:rPr sz="4400" dirty="0"/>
              <a:t>Reflect How You Feel</a:t>
            </a:r>
            <a:endParaRPr lang="en-US" sz="4400" dirty="0"/>
          </a:p>
          <a:p>
            <a:pPr>
              <a:defRPr sz="2000">
                <a:solidFill>
                  <a:srgbClr val="424242"/>
                </a:solidFill>
                <a:latin typeface="Open Sans"/>
              </a:defRPr>
            </a:pPr>
            <a:r>
              <a:rPr sz="4400" dirty="0"/>
              <a:t>Uplift How You Live.</a:t>
            </a:r>
            <a:r>
              <a:rPr lang="en-US" sz="4400" dirty="0"/>
              <a:t>"</a:t>
            </a:r>
            <a:endParaRPr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442</Words>
  <Application>Microsoft Macintosh PowerPoint</Application>
  <PresentationFormat>Custom</PresentationFormat>
  <Paragraphs>34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yahmeania.powell-W217041783</cp:lastModifiedBy>
  <cp:revision>5</cp:revision>
  <dcterms:created xsi:type="dcterms:W3CDTF">2013-01-27T09:14:16Z</dcterms:created>
  <dcterms:modified xsi:type="dcterms:W3CDTF">2025-11-01T17:58:20Z</dcterms:modified>
  <cp:category/>
</cp:coreProperties>
</file>